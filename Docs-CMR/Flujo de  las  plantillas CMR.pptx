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68BF6-0918-F880-CCB4-955EE46D0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79CD4-1658-4BD3-4EF6-3A84E8ABE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4C1406-A269-8919-B450-69F0E9B2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EA0790-3844-5D80-CAA8-113BCE18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5EDB6F-B996-E8C8-3593-3141BA36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8191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3DEDA-D384-D453-6E7C-5E1D3C36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FD0270-7CA8-1EFA-77CF-8AA40BD12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A58142-595A-8EBC-545C-4ACEFC24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331C61-F631-A0DA-51F1-D64B2A89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DE723E-08E7-39BE-A670-52930051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638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E9666-A510-411E-9F2E-059F1529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69D5C3-E23F-97FC-5C70-C1559812A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103B3D-B768-A4E7-EF8E-1E5FF8AE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6790F-9CA0-69D8-583D-026C8BF8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D6A2E-47D2-1EA7-102D-F9BC24A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00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7D770-44F9-4B93-4BB1-2E9D9E91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3DE19E-FBE3-85B1-8020-20BA8DF8C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392E26-041C-F0A2-66CB-19E4044D4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C6EA29-8B22-0501-F3DB-EBFD07B0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8312C2-3138-85A3-7E3F-319A6AC4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93F8D3-B4B7-D5C3-B7DE-5B7DD9B5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6954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11B78-829E-4FF5-ED1E-6BC484A4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FDA55-57D0-A799-22C0-5BB5867D7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D2FB6B-534C-EF94-8B48-634B0DA58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9E5A294-B6E5-7970-14BD-5ACA875B5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76E724-9DD6-3AEC-A315-C867962FB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384F10-A83D-341D-B052-0640412D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8FF4A4-0536-F61D-23F6-97BDD61D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44B94B-A07F-0A4C-EDF6-41FB5B44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66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4D1F4-6ED0-907B-EBFB-5D86F10A0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27EE8C-3908-F55A-1A38-33CC2954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30D7A8-AB54-D59D-5642-ABB315CE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D55651-50C6-FBB5-3EA7-25E356A2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64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5E7676-4943-E4B5-083D-577BC438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25171F-7AC9-A637-5FB0-7D777539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1B16A3-042C-E9D1-16D9-D451D5C9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072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102A1-4FDE-38D4-2AED-76B710A5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33D12A-495D-5DF2-5A04-8BC7D627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DC83AC-807B-C439-135F-CB82F5117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B5A832-B44C-F890-43AB-8DBD3BE9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99EC7F-9368-B0D5-57BA-F2EB1C1F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8A4EA4-51C9-E72C-5DE3-9B715C77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672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DD329-1841-C3BD-3C08-3892A538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D600B7-4FDA-F764-8D8A-590B41FFC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0BE4B0-5154-58E8-EC8C-A1A9F04EF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54F05B-FC9E-211F-2CE5-25AADE22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68DE1B-3383-0B48-6E52-7C11FB71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853E29-5F36-8326-B4A1-976C8E21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964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10E3-CE60-F1DD-9238-87979F5F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C6A8C3-686E-FF2B-D265-8D7179995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565ACB-B3E8-EE63-E67D-64E561B3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777CEB-AA33-B5FB-5887-21AB3555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5FC799-D01A-61E4-CB54-8DBB75657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928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27B89-63FF-5BFC-FA37-D1ACBC750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7B6711-29F3-7EEA-ED92-C52A6F6E2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5B4FDC-13F2-49A5-FC72-BA12F543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40CE6F-A001-EE4C-CF60-3D5ED257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0FBB7E-DE98-B74B-0BD9-B301BE35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178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C6BFDE2-9B0A-582E-3C9D-F5C63552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4C4664-153A-E6F8-180D-99808F46B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38EA18-1AFA-A3B4-86AE-A85D4183A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DCC67-9F55-4465-B94C-57724305EF7B}" type="datetimeFigureOut">
              <a:rPr lang="es-MX" smtClean="0"/>
              <a:t>24/10/2026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6934A2-2B25-0D57-870F-914587B90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ED7996-5BEF-6B7B-BE20-820DD3C30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099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7D910B4-AD98-5E1F-F806-C5756D783EB7}"/>
              </a:ext>
            </a:extLst>
          </p:cNvPr>
          <p:cNvSpPr/>
          <p:nvPr/>
        </p:nvSpPr>
        <p:spPr>
          <a:xfrm>
            <a:off x="0" y="63304"/>
            <a:ext cx="8947052" cy="211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/>
              <a:t>FLUJO DE PROCESO DE LA INFORMACION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3E4135A-8314-4ED2-BE57-2464D446D888}"/>
              </a:ext>
            </a:extLst>
          </p:cNvPr>
          <p:cNvSpPr/>
          <p:nvPr/>
        </p:nvSpPr>
        <p:spPr>
          <a:xfrm>
            <a:off x="1805941" y="2880999"/>
            <a:ext cx="2067970" cy="204566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>
                <a:solidFill>
                  <a:schemeClr val="tx1"/>
                </a:solidFill>
              </a:rPr>
              <a:t>Formato de Esp. Técnicas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D841CD4-D2E9-410C-B5FF-F38422742A85}"/>
              </a:ext>
            </a:extLst>
          </p:cNvPr>
          <p:cNvSpPr/>
          <p:nvPr/>
        </p:nvSpPr>
        <p:spPr>
          <a:xfrm>
            <a:off x="1805941" y="3133934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CTZ </a:t>
            </a:r>
            <a:r>
              <a:rPr lang="es-CO" sz="1000">
                <a:solidFill>
                  <a:schemeClr val="tx1"/>
                </a:solidFill>
              </a:rPr>
              <a:t>MOLDE COMPLETO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55E1B9E-5A56-488F-ADFE-143A4A872575}"/>
              </a:ext>
            </a:extLst>
          </p:cNvPr>
          <p:cNvSpPr/>
          <p:nvPr/>
        </p:nvSpPr>
        <p:spPr>
          <a:xfrm>
            <a:off x="1810612" y="3374578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CTZ </a:t>
            </a:r>
            <a:r>
              <a:rPr lang="es-CO" sz="1000">
                <a:solidFill>
                  <a:schemeClr val="tx1"/>
                </a:solidFill>
              </a:rPr>
              <a:t>ADAPTACION COMPLETA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3B96C85-D481-4C20-8BDF-2CF5AFAC2481}"/>
              </a:ext>
            </a:extLst>
          </p:cNvPr>
          <p:cNvSpPr/>
          <p:nvPr/>
        </p:nvSpPr>
        <p:spPr>
          <a:xfrm>
            <a:off x="1810612" y="3626771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CTZ LISTADO </a:t>
            </a:r>
            <a:r>
              <a:rPr lang="es-CO" sz="1000">
                <a:solidFill>
                  <a:schemeClr val="tx1"/>
                </a:solidFill>
              </a:rPr>
              <a:t>PZ ALUMINIO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11F8E02-7940-4A4A-967A-CE6DAFC65597}"/>
              </a:ext>
            </a:extLst>
          </p:cNvPr>
          <p:cNvSpPr/>
          <p:nvPr/>
        </p:nvSpPr>
        <p:spPr>
          <a:xfrm>
            <a:off x="1810612" y="3881834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</a:t>
            </a:r>
            <a:r>
              <a:rPr lang="es-CO" sz="1000">
                <a:solidFill>
                  <a:schemeClr val="tx1"/>
                </a:solidFill>
              </a:rPr>
              <a:t>CTZ ACCESORIOS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8005B6F8-7219-9D90-B35A-A3A3877DD044}"/>
              </a:ext>
            </a:extLst>
          </p:cNvPr>
          <p:cNvSpPr/>
          <p:nvPr/>
        </p:nvSpPr>
        <p:spPr>
          <a:xfrm>
            <a:off x="256548" y="3169179"/>
            <a:ext cx="1415731" cy="891149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100" dirty="0"/>
              <a:t>PLANTILLAS Y FORMATOS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D55308F-36B6-B264-0CB4-41244F2BD16B}"/>
              </a:ext>
            </a:extLst>
          </p:cNvPr>
          <p:cNvSpPr/>
          <p:nvPr/>
        </p:nvSpPr>
        <p:spPr>
          <a:xfrm>
            <a:off x="1805941" y="4135299"/>
            <a:ext cx="2067970" cy="204566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dirty="0">
                <a:solidFill>
                  <a:schemeClr val="tx1"/>
                </a:solidFill>
              </a:rPr>
              <a:t>BITACORA DE AVANCES DE PROYECTOS</a:t>
            </a:r>
            <a:endParaRPr lang="es-CO" sz="900" dirty="0">
              <a:solidFill>
                <a:schemeClr val="tx1"/>
              </a:solidFill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DDB1DEC3-E472-37A8-BFC5-BC14F17F2A0A}"/>
              </a:ext>
            </a:extLst>
          </p:cNvPr>
          <p:cNvSpPr/>
          <p:nvPr/>
        </p:nvSpPr>
        <p:spPr>
          <a:xfrm>
            <a:off x="5057141" y="836299"/>
            <a:ext cx="2067970" cy="204566"/>
          </a:xfrm>
          <a:prstGeom prst="roundRect">
            <a:avLst/>
          </a:prstGeom>
          <a:noFill/>
          <a:ln w="28575">
            <a:solidFill>
              <a:srgbClr val="002060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>
                <a:solidFill>
                  <a:schemeClr val="tx1"/>
                </a:solidFill>
              </a:rPr>
              <a:t>Formato de Esp. Técnicas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F8B307CE-65F8-282C-D019-0F1CCD7BE029}"/>
              </a:ext>
            </a:extLst>
          </p:cNvPr>
          <p:cNvSpPr/>
          <p:nvPr/>
        </p:nvSpPr>
        <p:spPr>
          <a:xfrm>
            <a:off x="6263641" y="1421842"/>
            <a:ext cx="1232453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Datos generales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9F8FBCF9-EA99-E8EB-C72B-6661518787DF}"/>
              </a:ext>
            </a:extLst>
          </p:cNvPr>
          <p:cNvSpPr/>
          <p:nvPr/>
        </p:nvSpPr>
        <p:spPr>
          <a:xfrm>
            <a:off x="8147438" y="2784743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Datos del proyecto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A4A6811A-5C66-2430-13D1-9D60CE03334C}"/>
              </a:ext>
            </a:extLst>
          </p:cNvPr>
          <p:cNvSpPr/>
          <p:nvPr/>
        </p:nvSpPr>
        <p:spPr>
          <a:xfrm>
            <a:off x="8147436" y="3081388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Esp</a:t>
            </a:r>
            <a:r>
              <a:rPr lang="es-CO" sz="1000">
                <a:solidFill>
                  <a:schemeClr val="tx1"/>
                </a:solidFill>
              </a:rPr>
              <a:t>. técnicas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B35F6BE2-E2AC-3F40-A10C-D40BA9A0AF62}"/>
              </a:ext>
            </a:extLst>
          </p:cNvPr>
          <p:cNvSpPr/>
          <p:nvPr/>
        </p:nvSpPr>
        <p:spPr>
          <a:xfrm>
            <a:off x="7095767" y="1724075"/>
            <a:ext cx="1232453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Tipo de negociación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46E611F7-1CE7-FA02-FBCF-392B3EF24B72}"/>
              </a:ext>
            </a:extLst>
          </p:cNvPr>
          <p:cNvSpPr/>
          <p:nvPr/>
        </p:nvSpPr>
        <p:spPr>
          <a:xfrm>
            <a:off x="8147436" y="2470785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Planos–Listado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956214AF-B636-E828-C877-E91739AA1C67}"/>
              </a:ext>
            </a:extLst>
          </p:cNvPr>
          <p:cNvSpPr/>
          <p:nvPr/>
        </p:nvSpPr>
        <p:spPr>
          <a:xfrm>
            <a:off x="8147435" y="3401670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Detalles Arquitectónicos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A566A2F7-6D1E-CBDC-AC4A-59662956818F}"/>
              </a:ext>
            </a:extLst>
          </p:cNvPr>
          <p:cNvSpPr/>
          <p:nvPr/>
        </p:nvSpPr>
        <p:spPr>
          <a:xfrm>
            <a:off x="8147435" y="3721952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Detalles constructivos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E1B401BD-51DD-1F72-69C9-A7B93FF09FC7}"/>
              </a:ext>
            </a:extLst>
          </p:cNvPr>
          <p:cNvSpPr/>
          <p:nvPr/>
        </p:nvSpPr>
        <p:spPr>
          <a:xfrm>
            <a:off x="8147435" y="4042234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Alcance de la cotización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13AA2642-F11C-4B3D-ACF0-F18D87B7F301}"/>
              </a:ext>
            </a:extLst>
          </p:cNvPr>
          <p:cNvSpPr/>
          <p:nvPr/>
        </p:nvSpPr>
        <p:spPr>
          <a:xfrm>
            <a:off x="8156493" y="4359401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Características </a:t>
            </a:r>
            <a:r>
              <a:rPr lang="es-CO" sz="1000" dirty="0" err="1">
                <a:solidFill>
                  <a:schemeClr val="tx1"/>
                </a:solidFill>
              </a:rPr>
              <a:t>ppales</a:t>
            </a:r>
            <a:r>
              <a:rPr lang="es-CO" sz="1000" dirty="0">
                <a:solidFill>
                  <a:schemeClr val="tx1"/>
                </a:solidFill>
              </a:rPr>
              <a:t>. del proyecto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58D4AB50-802A-FC11-C8DC-ACB5DF4D322B}"/>
              </a:ext>
            </a:extLst>
          </p:cNvPr>
          <p:cNvSpPr/>
          <p:nvPr/>
        </p:nvSpPr>
        <p:spPr>
          <a:xfrm>
            <a:off x="8156493" y="4660165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Secuencia de vaciado acordada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C3AD1A9A-33E7-59BB-0A51-7384108AA1A1}"/>
              </a:ext>
            </a:extLst>
          </p:cNvPr>
          <p:cNvSpPr/>
          <p:nvPr/>
        </p:nvSpPr>
        <p:spPr>
          <a:xfrm>
            <a:off x="8156493" y="4960929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Notas generales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619CB6FA-0136-E95F-EA80-E24B4AEC8C5B}"/>
              </a:ext>
            </a:extLst>
          </p:cNvPr>
          <p:cNvCxnSpPr>
            <a:stCxn id="41" idx="2"/>
            <a:endCxn id="4" idx="3"/>
          </p:cNvCxnSpPr>
          <p:nvPr/>
        </p:nvCxnSpPr>
        <p:spPr>
          <a:xfrm flipH="1">
            <a:off x="3873911" y="1941473"/>
            <a:ext cx="3838083" cy="1294744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CDE2B6B-902E-4504-7909-1175210B66A3}"/>
              </a:ext>
            </a:extLst>
          </p:cNvPr>
          <p:cNvCxnSpPr>
            <a:cxnSpLocks/>
            <a:stCxn id="41" idx="2"/>
            <a:endCxn id="5" idx="3"/>
          </p:cNvCxnSpPr>
          <p:nvPr/>
        </p:nvCxnSpPr>
        <p:spPr>
          <a:xfrm flipH="1">
            <a:off x="3878582" y="1941473"/>
            <a:ext cx="3833412" cy="1535388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87789E10-559A-C345-6192-2F1C36DD157E}"/>
              </a:ext>
            </a:extLst>
          </p:cNvPr>
          <p:cNvCxnSpPr>
            <a:cxnSpLocks/>
            <a:stCxn id="41" idx="2"/>
            <a:endCxn id="6" idx="3"/>
          </p:cNvCxnSpPr>
          <p:nvPr/>
        </p:nvCxnSpPr>
        <p:spPr>
          <a:xfrm flipH="1">
            <a:off x="3878582" y="1941473"/>
            <a:ext cx="3833412" cy="1787581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87899B2E-44F8-267B-82C4-68BCF6F4E707}"/>
              </a:ext>
            </a:extLst>
          </p:cNvPr>
          <p:cNvCxnSpPr>
            <a:cxnSpLocks/>
            <a:stCxn id="41" idx="2"/>
            <a:endCxn id="7" idx="3"/>
          </p:cNvCxnSpPr>
          <p:nvPr/>
        </p:nvCxnSpPr>
        <p:spPr>
          <a:xfrm flipH="1">
            <a:off x="3878582" y="1941473"/>
            <a:ext cx="3833412" cy="2042644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2CCF8703-31A8-D89E-8923-D0276DCEB1DA}"/>
              </a:ext>
            </a:extLst>
          </p:cNvPr>
          <p:cNvCxnSpPr>
            <a:stCxn id="31" idx="2"/>
            <a:endCxn id="41" idx="1"/>
          </p:cNvCxnSpPr>
          <p:nvPr/>
        </p:nvCxnSpPr>
        <p:spPr>
          <a:xfrm rot="16200000" flipH="1">
            <a:off x="6891050" y="1628057"/>
            <a:ext cx="193534" cy="215899"/>
          </a:xfrm>
          <a:prstGeom prst="bentConnector2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7E8BF67C-F598-1594-ED37-16C232C518EE}"/>
              </a:ext>
            </a:extLst>
          </p:cNvPr>
          <p:cNvCxnSpPr>
            <a:cxnSpLocks/>
            <a:stCxn id="41" idx="2"/>
            <a:endCxn id="42" idx="1"/>
          </p:cNvCxnSpPr>
          <p:nvPr/>
        </p:nvCxnSpPr>
        <p:spPr>
          <a:xfrm rot="16200000" flipH="1">
            <a:off x="7610710" y="2042757"/>
            <a:ext cx="638011" cy="435442"/>
          </a:xfrm>
          <a:prstGeom prst="bentConnector2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4B280B57-11C8-353C-2588-CCB296933B25}"/>
              </a:ext>
            </a:extLst>
          </p:cNvPr>
          <p:cNvCxnSpPr>
            <a:cxnSpLocks/>
            <a:stCxn id="41" idx="2"/>
            <a:endCxn id="33" idx="1"/>
          </p:cNvCxnSpPr>
          <p:nvPr/>
        </p:nvCxnSpPr>
        <p:spPr>
          <a:xfrm rot="16200000" flipH="1">
            <a:off x="7453732" y="2199735"/>
            <a:ext cx="951969" cy="435444"/>
          </a:xfrm>
          <a:prstGeom prst="bentConnector2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4FB2AF42-D654-AA96-1900-496DBEAE63A5}"/>
              </a:ext>
            </a:extLst>
          </p:cNvPr>
          <p:cNvGrpSpPr/>
          <p:nvPr/>
        </p:nvGrpSpPr>
        <p:grpSpPr>
          <a:xfrm>
            <a:off x="9085249" y="1084525"/>
            <a:ext cx="2554486" cy="897574"/>
            <a:chOff x="3667462" y="797236"/>
            <a:chExt cx="1442462" cy="1189729"/>
          </a:xfrm>
        </p:grpSpPr>
        <p:sp>
          <p:nvSpPr>
            <p:cNvPr id="70" name="Rectángulo: esquinas redondeadas 69">
              <a:extLst>
                <a:ext uri="{FF2B5EF4-FFF2-40B4-BE49-F238E27FC236}">
                  <a16:creationId xmlns:a16="http://schemas.microsoft.com/office/drawing/2014/main" id="{5DED2444-1F0D-CE8D-572C-800DB7B7B7DA}"/>
                </a:ext>
              </a:extLst>
            </p:cNvPr>
            <p:cNvSpPr/>
            <p:nvPr/>
          </p:nvSpPr>
          <p:spPr>
            <a:xfrm>
              <a:off x="3667462" y="797236"/>
              <a:ext cx="1442462" cy="11897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1" name="Rectángulo: esquinas redondeadas 4">
              <a:extLst>
                <a:ext uri="{FF2B5EF4-FFF2-40B4-BE49-F238E27FC236}">
                  <a16:creationId xmlns:a16="http://schemas.microsoft.com/office/drawing/2014/main" id="{18B51B05-082D-A079-B3C0-5A51CEFD7AE2}"/>
                </a:ext>
              </a:extLst>
            </p:cNvPr>
            <p:cNvSpPr txBox="1"/>
            <p:nvPr/>
          </p:nvSpPr>
          <p:spPr>
            <a:xfrm>
              <a:off x="3694841" y="824615"/>
              <a:ext cx="1387704" cy="8800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Responsable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Fecha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dirty="0">
                  <a:solidFill>
                    <a:srgbClr val="FF0000"/>
                  </a:solidFill>
                </a:rPr>
                <a:t>Numero de cotización (#135)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kern="1200" noProof="0" dirty="0">
                  <a:solidFill>
                    <a:srgbClr val="FF0000"/>
                  </a:solidFill>
                </a:rPr>
                <a:t>Versión de cotización (5)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dirty="0">
                  <a:solidFill>
                    <a:srgbClr val="297FB8"/>
                  </a:solidFill>
                </a:rPr>
                <a:t>Datos del cliente y empresa</a:t>
              </a:r>
              <a:endParaRPr lang="es-CO" sz="1000" kern="1200" noProof="0" dirty="0">
                <a:solidFill>
                  <a:srgbClr val="297FB8"/>
                </a:solidFill>
              </a:endParaRPr>
            </a:p>
          </p:txBody>
        </p:sp>
      </p:grp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26BEFA64-E61D-A3E8-FD88-71B2C1D1F15C}"/>
              </a:ext>
            </a:extLst>
          </p:cNvPr>
          <p:cNvCxnSpPr>
            <a:cxnSpLocks/>
            <a:stCxn id="31" idx="3"/>
            <a:endCxn id="70" idx="1"/>
          </p:cNvCxnSpPr>
          <p:nvPr/>
        </p:nvCxnSpPr>
        <p:spPr>
          <a:xfrm>
            <a:off x="7496094" y="1530541"/>
            <a:ext cx="1589155" cy="2771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lecha: a la derecha 76">
            <a:extLst>
              <a:ext uri="{FF2B5EF4-FFF2-40B4-BE49-F238E27FC236}">
                <a16:creationId xmlns:a16="http://schemas.microsoft.com/office/drawing/2014/main" id="{48543AA8-67AD-FFF2-43FE-ADBD9EBCD69D}"/>
              </a:ext>
            </a:extLst>
          </p:cNvPr>
          <p:cNvSpPr/>
          <p:nvPr/>
        </p:nvSpPr>
        <p:spPr>
          <a:xfrm>
            <a:off x="1" y="340376"/>
            <a:ext cx="2781299" cy="274801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00" dirty="0"/>
              <a:t>PROCESO COMERCIAL (VENTAS)</a:t>
            </a:r>
          </a:p>
        </p:txBody>
      </p:sp>
      <p:cxnSp>
        <p:nvCxnSpPr>
          <p:cNvPr id="78" name="Straight Connector 11">
            <a:extLst>
              <a:ext uri="{FF2B5EF4-FFF2-40B4-BE49-F238E27FC236}">
                <a16:creationId xmlns:a16="http://schemas.microsoft.com/office/drawing/2014/main" id="{47FA6763-4FC3-17B2-BBAD-D1C15246127C}"/>
              </a:ext>
            </a:extLst>
          </p:cNvPr>
          <p:cNvCxnSpPr>
            <a:cxnSpLocks/>
          </p:cNvCxnSpPr>
          <p:nvPr/>
        </p:nvCxnSpPr>
        <p:spPr>
          <a:xfrm>
            <a:off x="291384" y="935182"/>
            <a:ext cx="4600727" cy="0"/>
          </a:xfrm>
          <a:prstGeom prst="line">
            <a:avLst/>
          </a:prstGeom>
          <a:ln w="19050">
            <a:headEnd type="oval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15">
            <a:extLst>
              <a:ext uri="{FF2B5EF4-FFF2-40B4-BE49-F238E27FC236}">
                <a16:creationId xmlns:a16="http://schemas.microsoft.com/office/drawing/2014/main" id="{1B397ACA-E662-DF01-5763-D388D4A0471C}"/>
              </a:ext>
            </a:extLst>
          </p:cNvPr>
          <p:cNvSpPr/>
          <p:nvPr/>
        </p:nvSpPr>
        <p:spPr>
          <a:xfrm>
            <a:off x="595422" y="788106"/>
            <a:ext cx="274800" cy="2748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2D3E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rgbClr val="2D3E50"/>
                </a:solidFill>
                <a:latin typeface="FontAwesome" pitchFamily="2" charset="0"/>
              </a:rPr>
              <a:t>1</a:t>
            </a:r>
          </a:p>
        </p:txBody>
      </p:sp>
      <p:grpSp>
        <p:nvGrpSpPr>
          <p:cNvPr id="80" name="Group 87">
            <a:extLst>
              <a:ext uri="{FF2B5EF4-FFF2-40B4-BE49-F238E27FC236}">
                <a16:creationId xmlns:a16="http://schemas.microsoft.com/office/drawing/2014/main" id="{DAAD08A1-3801-9483-DB76-A7AB81E87F33}"/>
              </a:ext>
            </a:extLst>
          </p:cNvPr>
          <p:cNvGrpSpPr/>
          <p:nvPr/>
        </p:nvGrpSpPr>
        <p:grpSpPr>
          <a:xfrm>
            <a:off x="424986" y="1104534"/>
            <a:ext cx="956140" cy="632967"/>
            <a:chOff x="1071320" y="5111713"/>
            <a:chExt cx="2495283" cy="843954"/>
          </a:xfrm>
        </p:grpSpPr>
        <p:sp>
          <p:nvSpPr>
            <p:cNvPr id="81" name="TextBox 88">
              <a:extLst>
                <a:ext uri="{FF2B5EF4-FFF2-40B4-BE49-F238E27FC236}">
                  <a16:creationId xmlns:a16="http://schemas.microsoft.com/office/drawing/2014/main" id="{3A92375F-AE90-AD94-4C79-313E38C1799F}"/>
                </a:ext>
              </a:extLst>
            </p:cNvPr>
            <p:cNvSpPr txBox="1"/>
            <p:nvPr/>
          </p:nvSpPr>
          <p:spPr>
            <a:xfrm>
              <a:off x="1071320" y="5111713"/>
              <a:ext cx="1736492" cy="307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INFORMACION</a:t>
              </a:r>
            </a:p>
          </p:txBody>
        </p:sp>
        <p:sp>
          <p:nvSpPr>
            <p:cNvPr id="82" name="TextBox 89">
              <a:extLst>
                <a:ext uri="{FF2B5EF4-FFF2-40B4-BE49-F238E27FC236}">
                  <a16:creationId xmlns:a16="http://schemas.microsoft.com/office/drawing/2014/main" id="{2EBDF7D7-D0EE-DCA3-C0F2-BED1DCCAC255}"/>
                </a:ext>
              </a:extLst>
            </p:cNvPr>
            <p:cNvSpPr txBox="1"/>
            <p:nvPr/>
          </p:nvSpPr>
          <p:spPr>
            <a:xfrm>
              <a:off x="1071320" y="5340115"/>
              <a:ext cx="2495283" cy="61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800" b="1" dirty="0">
                  <a:solidFill>
                    <a:srgbClr val="002060"/>
                  </a:solidFill>
                </a:rPr>
                <a:t>Listado:</a:t>
              </a:r>
            </a:p>
            <a:p>
              <a:r>
                <a:rPr lang="es-CO" sz="800" b="1" dirty="0">
                  <a:solidFill>
                    <a:srgbClr val="002060"/>
                  </a:solidFill>
                </a:rPr>
                <a:t>Planos:</a:t>
              </a:r>
              <a:endParaRPr lang="es-CO" sz="800" dirty="0"/>
            </a:p>
            <a:p>
              <a:r>
                <a:rPr lang="es-CO" sz="800" b="1" dirty="0">
                  <a:solidFill>
                    <a:srgbClr val="002060"/>
                  </a:solidFill>
                </a:rPr>
                <a:t>Alcance:</a:t>
              </a:r>
            </a:p>
          </p:txBody>
        </p:sp>
      </p:grpSp>
      <p:sp>
        <p:nvSpPr>
          <p:cNvPr id="83" name="Oval 15">
            <a:extLst>
              <a:ext uri="{FF2B5EF4-FFF2-40B4-BE49-F238E27FC236}">
                <a16:creationId xmlns:a16="http://schemas.microsoft.com/office/drawing/2014/main" id="{F9CC7628-10E9-754D-E8D1-F08EBDAC31CB}"/>
              </a:ext>
            </a:extLst>
          </p:cNvPr>
          <p:cNvSpPr/>
          <p:nvPr/>
        </p:nvSpPr>
        <p:spPr>
          <a:xfrm>
            <a:off x="1977902" y="790584"/>
            <a:ext cx="274800" cy="2748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FontAwesome" pitchFamily="2" charset="0"/>
              </a:rPr>
              <a:t>2</a:t>
            </a:r>
          </a:p>
        </p:txBody>
      </p:sp>
      <p:grpSp>
        <p:nvGrpSpPr>
          <p:cNvPr id="84" name="Group 87">
            <a:extLst>
              <a:ext uri="{FF2B5EF4-FFF2-40B4-BE49-F238E27FC236}">
                <a16:creationId xmlns:a16="http://schemas.microsoft.com/office/drawing/2014/main" id="{18F522AC-CE37-FBC2-D5B1-1AAED3E060A8}"/>
              </a:ext>
            </a:extLst>
          </p:cNvPr>
          <p:cNvGrpSpPr/>
          <p:nvPr/>
        </p:nvGrpSpPr>
        <p:grpSpPr>
          <a:xfrm>
            <a:off x="1474090" y="1107014"/>
            <a:ext cx="1443016" cy="1248520"/>
            <a:chOff x="1071317" y="5111713"/>
            <a:chExt cx="3765907" cy="1664689"/>
          </a:xfrm>
        </p:grpSpPr>
        <p:sp>
          <p:nvSpPr>
            <p:cNvPr id="85" name="TextBox 88">
              <a:extLst>
                <a:ext uri="{FF2B5EF4-FFF2-40B4-BE49-F238E27FC236}">
                  <a16:creationId xmlns:a16="http://schemas.microsoft.com/office/drawing/2014/main" id="{9CFAF530-47BB-F604-1618-0B1757713D7A}"/>
                </a:ext>
              </a:extLst>
            </p:cNvPr>
            <p:cNvSpPr txBox="1"/>
            <p:nvPr/>
          </p:nvSpPr>
          <p:spPr>
            <a:xfrm>
              <a:off x="1071320" y="5111713"/>
              <a:ext cx="3523289" cy="307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CARGAR AL SISTEMA</a:t>
              </a:r>
            </a:p>
          </p:txBody>
        </p:sp>
        <p:sp>
          <p:nvSpPr>
            <p:cNvPr id="86" name="TextBox 89">
              <a:extLst>
                <a:ext uri="{FF2B5EF4-FFF2-40B4-BE49-F238E27FC236}">
                  <a16:creationId xmlns:a16="http://schemas.microsoft.com/office/drawing/2014/main" id="{E0AF1936-913D-194C-893E-B3A07675968A}"/>
                </a:ext>
              </a:extLst>
            </p:cNvPr>
            <p:cNvSpPr txBox="1"/>
            <p:nvPr/>
          </p:nvSpPr>
          <p:spPr>
            <a:xfrm>
              <a:off x="1071317" y="5340115"/>
              <a:ext cx="3765907" cy="1436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Tipo de  negociación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Datos generales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Adjunta Listado/planos </a:t>
              </a:r>
              <a:r>
                <a:rPr lang="es-CO" sz="800" b="1" dirty="0">
                  <a:solidFill>
                    <a:srgbClr val="FF0000"/>
                  </a:solidFill>
                </a:rPr>
                <a:t>(En servidor CMR carpeta automática)</a:t>
              </a:r>
              <a:endParaRPr lang="es-CO" sz="800" dirty="0">
                <a:solidFill>
                  <a:srgbClr val="FF0000"/>
                </a:solidFill>
              </a:endParaRP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Alcance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# de Cotización y Versión</a:t>
              </a:r>
            </a:p>
          </p:txBody>
        </p:sp>
      </p:grpSp>
      <p:sp>
        <p:nvSpPr>
          <p:cNvPr id="87" name="Oval 15">
            <a:extLst>
              <a:ext uri="{FF2B5EF4-FFF2-40B4-BE49-F238E27FC236}">
                <a16:creationId xmlns:a16="http://schemas.microsoft.com/office/drawing/2014/main" id="{4EEEE2CB-C162-582F-08DA-9E3DE5369D87}"/>
              </a:ext>
            </a:extLst>
          </p:cNvPr>
          <p:cNvSpPr/>
          <p:nvPr/>
        </p:nvSpPr>
        <p:spPr>
          <a:xfrm>
            <a:off x="3536699" y="790285"/>
            <a:ext cx="274800" cy="2748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FontAwesome" pitchFamily="2" charset="0"/>
              </a:rPr>
              <a:t>3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B22AA6B-E296-E6CF-5B93-DA46F17984D2}"/>
              </a:ext>
            </a:extLst>
          </p:cNvPr>
          <p:cNvGrpSpPr/>
          <p:nvPr/>
        </p:nvGrpSpPr>
        <p:grpSpPr>
          <a:xfrm>
            <a:off x="3032886" y="1106718"/>
            <a:ext cx="2311001" cy="1647695"/>
            <a:chOff x="1071317" y="5111713"/>
            <a:chExt cx="4031648" cy="3780585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9880271-68F2-4696-1ABE-2214E5FC76E0}"/>
                </a:ext>
              </a:extLst>
            </p:cNvPr>
            <p:cNvSpPr txBox="1"/>
            <p:nvPr/>
          </p:nvSpPr>
          <p:spPr>
            <a:xfrm>
              <a:off x="1071320" y="5111713"/>
              <a:ext cx="3661340" cy="307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Reception/validation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4EA9305-998C-4E88-B47C-5E257D18F67F}"/>
                </a:ext>
              </a:extLst>
            </p:cNvPr>
            <p:cNvSpPr txBox="1"/>
            <p:nvPr/>
          </p:nvSpPr>
          <p:spPr>
            <a:xfrm>
              <a:off x="1071317" y="5573234"/>
              <a:ext cx="4031648" cy="3319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Tipo de  negociación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Listado/planos:</a:t>
              </a:r>
              <a:endParaRPr lang="es-CO" sz="800" dirty="0"/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Alcance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Alimenta el formato de especificaciones técnicas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FF0000"/>
                  </a:solidFill>
                </a:rPr>
                <a:t>Determinación de tiempos</a:t>
              </a:r>
            </a:p>
            <a:p>
              <a:pPr marL="685800" lvl="1" indent="-228600">
                <a:buAutoNum type="arabicPeriod"/>
              </a:pPr>
              <a:r>
                <a:rPr lang="es-CO" sz="800" b="1" dirty="0">
                  <a:solidFill>
                    <a:srgbClr val="FF0000"/>
                  </a:solidFill>
                </a:rPr>
                <a:t>Nivel de complejidad</a:t>
              </a:r>
            </a:p>
            <a:p>
              <a:pPr marL="685800" lvl="1" indent="-228600">
                <a:buAutoNum type="arabicPeriod"/>
              </a:pPr>
              <a:r>
                <a:rPr lang="es-CO" sz="800" b="1" dirty="0">
                  <a:solidFill>
                    <a:srgbClr val="FF0000"/>
                  </a:solidFill>
                </a:rPr>
                <a:t>Sea modulado o por área de colores  indicar: </a:t>
              </a:r>
            </a:p>
            <a:p>
              <a:pPr marL="1143000" lvl="2" indent="-228600">
                <a:buAutoNum type="arabicPeriod"/>
              </a:pPr>
              <a:r>
                <a:rPr lang="es-CO" sz="800" b="1" dirty="0">
                  <a:solidFill>
                    <a:srgbClr val="FF0000"/>
                  </a:solidFill>
                </a:rPr>
                <a:t># Modulaciones </a:t>
              </a:r>
            </a:p>
            <a:p>
              <a:pPr marL="1143000" lvl="2" indent="-228600">
                <a:buAutoNum type="arabicPeriod"/>
              </a:pPr>
              <a:r>
                <a:rPr lang="es-CO" sz="800" b="1" dirty="0">
                  <a:solidFill>
                    <a:srgbClr val="FF0000"/>
                  </a:solidFill>
                </a:rPr>
                <a:t># cambios</a:t>
              </a:r>
            </a:p>
          </p:txBody>
        </p:sp>
      </p:grpSp>
      <p:sp>
        <p:nvSpPr>
          <p:cNvPr id="91" name="Flecha: a la derecha 90">
            <a:extLst>
              <a:ext uri="{FF2B5EF4-FFF2-40B4-BE49-F238E27FC236}">
                <a16:creationId xmlns:a16="http://schemas.microsoft.com/office/drawing/2014/main" id="{2C0AF940-7623-963E-A24B-7115AFBB3A30}"/>
              </a:ext>
            </a:extLst>
          </p:cNvPr>
          <p:cNvSpPr/>
          <p:nvPr/>
        </p:nvSpPr>
        <p:spPr>
          <a:xfrm>
            <a:off x="2781300" y="340375"/>
            <a:ext cx="2781299" cy="274801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00" dirty="0"/>
              <a:t>PROCESO COTIZACION</a:t>
            </a:r>
          </a:p>
        </p:txBody>
      </p:sp>
      <p:cxnSp>
        <p:nvCxnSpPr>
          <p:cNvPr id="93" name="Conector: angular 92">
            <a:extLst>
              <a:ext uri="{FF2B5EF4-FFF2-40B4-BE49-F238E27FC236}">
                <a16:creationId xmlns:a16="http://schemas.microsoft.com/office/drawing/2014/main" id="{43FA598D-44B8-F186-191A-F4F981B7FB28}"/>
              </a:ext>
            </a:extLst>
          </p:cNvPr>
          <p:cNvCxnSpPr>
            <a:cxnSpLocks/>
            <a:stCxn id="29" idx="2"/>
            <a:endCxn id="31" idx="1"/>
          </p:cNvCxnSpPr>
          <p:nvPr/>
        </p:nvCxnSpPr>
        <p:spPr>
          <a:xfrm rot="16200000" flipH="1">
            <a:off x="5932545" y="1199445"/>
            <a:ext cx="489676" cy="172515"/>
          </a:xfrm>
          <a:prstGeom prst="bentConnector2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93FDF262-0DF1-13C5-6E5B-61F53C5CFD3F}"/>
              </a:ext>
            </a:extLst>
          </p:cNvPr>
          <p:cNvSpPr/>
          <p:nvPr/>
        </p:nvSpPr>
        <p:spPr>
          <a:xfrm>
            <a:off x="8156493" y="5270744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rgbClr val="FF0000"/>
                </a:solidFill>
              </a:rPr>
              <a:t>Tiempo para levantar modelo REVIT</a:t>
            </a:r>
          </a:p>
        </p:txBody>
      </p:sp>
      <p:sp>
        <p:nvSpPr>
          <p:cNvPr id="52" name="Cerrar llave 51">
            <a:extLst>
              <a:ext uri="{FF2B5EF4-FFF2-40B4-BE49-F238E27FC236}">
                <a16:creationId xmlns:a16="http://schemas.microsoft.com/office/drawing/2014/main" id="{15ED346F-9D91-4D76-93D4-A81F3E806C5D}"/>
              </a:ext>
            </a:extLst>
          </p:cNvPr>
          <p:cNvSpPr/>
          <p:nvPr/>
        </p:nvSpPr>
        <p:spPr>
          <a:xfrm>
            <a:off x="4985042" y="1982099"/>
            <a:ext cx="72099" cy="706084"/>
          </a:xfrm>
          <a:prstGeom prst="rightBrace">
            <a:avLst>
              <a:gd name="adj1" fmla="val 62145"/>
              <a:gd name="adj2" fmla="val 50000"/>
            </a:avLst>
          </a:prstGeom>
          <a:ln w="31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844478D-8376-41DD-AC68-2E66B1FA6689}"/>
              </a:ext>
            </a:extLst>
          </p:cNvPr>
          <p:cNvSpPr txBox="1"/>
          <p:nvPr/>
        </p:nvSpPr>
        <p:spPr>
          <a:xfrm>
            <a:off x="5018438" y="2103523"/>
            <a:ext cx="13098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00" dirty="0"/>
              <a:t>Aquí se determina los tiempos para realizar el levantamiento del modelo en REVIT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5CDBBBC3-D658-4C95-8376-FE1CE78496B6}"/>
              </a:ext>
            </a:extLst>
          </p:cNvPr>
          <p:cNvSpPr/>
          <p:nvPr/>
        </p:nvSpPr>
        <p:spPr>
          <a:xfrm>
            <a:off x="7864808" y="2323707"/>
            <a:ext cx="2460292" cy="10092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7868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EF2D-BA9C-581D-188D-AED6BAA2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EC28D8B-0F96-0EF1-0FC9-510F447626FC}"/>
              </a:ext>
            </a:extLst>
          </p:cNvPr>
          <p:cNvSpPr/>
          <p:nvPr/>
        </p:nvSpPr>
        <p:spPr>
          <a:xfrm>
            <a:off x="0" y="63304"/>
            <a:ext cx="8947052" cy="211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/>
              <a:t>FLUJO DE PROCESO DE LA INFORMACION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0E36DB4-D656-9D30-8F8F-920E7300E4E4}"/>
              </a:ext>
            </a:extLst>
          </p:cNvPr>
          <p:cNvSpPr/>
          <p:nvPr/>
        </p:nvSpPr>
        <p:spPr>
          <a:xfrm>
            <a:off x="4637629" y="2925712"/>
            <a:ext cx="2067970" cy="282368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DEFINICION DE CANTIDAD DE OPCIONES</a:t>
            </a:r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40E6B39B-B667-BDB3-A91A-3350A6B2AAA4}"/>
              </a:ext>
            </a:extLst>
          </p:cNvPr>
          <p:cNvSpPr/>
          <p:nvPr/>
        </p:nvSpPr>
        <p:spPr>
          <a:xfrm>
            <a:off x="247244" y="2614051"/>
            <a:ext cx="1415731" cy="891149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100" dirty="0"/>
              <a:t>PLANTILLAS Y FORMATOS</a:t>
            </a:r>
          </a:p>
        </p:txBody>
      </p:sp>
      <p:sp>
        <p:nvSpPr>
          <p:cNvPr id="91" name="Flecha: a la derecha 90">
            <a:extLst>
              <a:ext uri="{FF2B5EF4-FFF2-40B4-BE49-F238E27FC236}">
                <a16:creationId xmlns:a16="http://schemas.microsoft.com/office/drawing/2014/main" id="{37699980-C1CE-0975-EE58-72F8B3779214}"/>
              </a:ext>
            </a:extLst>
          </p:cNvPr>
          <p:cNvSpPr/>
          <p:nvPr/>
        </p:nvSpPr>
        <p:spPr>
          <a:xfrm>
            <a:off x="165100" y="340375"/>
            <a:ext cx="2781299" cy="274801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00" dirty="0"/>
              <a:t>PROCESO COTIZACION</a:t>
            </a:r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1D52167-8558-C416-625E-E68F6DA10404}"/>
              </a:ext>
            </a:extLst>
          </p:cNvPr>
          <p:cNvCxnSpPr>
            <a:cxnSpLocks/>
          </p:cNvCxnSpPr>
          <p:nvPr/>
        </p:nvCxnSpPr>
        <p:spPr>
          <a:xfrm>
            <a:off x="291384" y="935182"/>
            <a:ext cx="9055816" cy="0"/>
          </a:xfrm>
          <a:prstGeom prst="line">
            <a:avLst/>
          </a:prstGeom>
          <a:ln w="19050">
            <a:headEnd type="oval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BB70246E-AD3F-259E-EA98-B628FAE1E91D}"/>
              </a:ext>
            </a:extLst>
          </p:cNvPr>
          <p:cNvSpPr/>
          <p:nvPr/>
        </p:nvSpPr>
        <p:spPr>
          <a:xfrm>
            <a:off x="849422" y="788106"/>
            <a:ext cx="274800" cy="2748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rgbClr val="FFC000"/>
                </a:solidFill>
                <a:latin typeface="FontAwesome" pitchFamily="2" charset="0"/>
              </a:rPr>
              <a:t>4</a:t>
            </a:r>
          </a:p>
        </p:txBody>
      </p:sp>
      <p:grpSp>
        <p:nvGrpSpPr>
          <p:cNvPr id="10" name="Group 87">
            <a:extLst>
              <a:ext uri="{FF2B5EF4-FFF2-40B4-BE49-F238E27FC236}">
                <a16:creationId xmlns:a16="http://schemas.microsoft.com/office/drawing/2014/main" id="{B403716F-C124-ECA4-6815-DBCAACB80CB7}"/>
              </a:ext>
            </a:extLst>
          </p:cNvPr>
          <p:cNvGrpSpPr/>
          <p:nvPr/>
        </p:nvGrpSpPr>
        <p:grpSpPr>
          <a:xfrm>
            <a:off x="424986" y="1104532"/>
            <a:ext cx="1415731" cy="959408"/>
            <a:chOff x="1071320" y="5111713"/>
            <a:chExt cx="3415030" cy="634529"/>
          </a:xfrm>
        </p:grpSpPr>
        <p:sp>
          <p:nvSpPr>
            <p:cNvPr id="11" name="TextBox 88">
              <a:extLst>
                <a:ext uri="{FF2B5EF4-FFF2-40B4-BE49-F238E27FC236}">
                  <a16:creationId xmlns:a16="http://schemas.microsoft.com/office/drawing/2014/main" id="{B279E566-C6F8-6BB2-5ADC-D570A8653337}"/>
                </a:ext>
              </a:extLst>
            </p:cNvPr>
            <p:cNvSpPr txBox="1"/>
            <p:nvPr/>
          </p:nvSpPr>
          <p:spPr>
            <a:xfrm>
              <a:off x="1071320" y="5111713"/>
              <a:ext cx="3008723" cy="3358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ASIGNACION </a:t>
              </a:r>
            </a:p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 </a:t>
              </a:r>
            </a:p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PROGRAMACION</a:t>
              </a:r>
            </a:p>
          </p:txBody>
        </p:sp>
        <p:sp>
          <p:nvSpPr>
            <p:cNvPr id="12" name="TextBox 89">
              <a:extLst>
                <a:ext uri="{FF2B5EF4-FFF2-40B4-BE49-F238E27FC236}">
                  <a16:creationId xmlns:a16="http://schemas.microsoft.com/office/drawing/2014/main" id="{57173821-DBA3-8587-24DB-77E3118DC102}"/>
                </a:ext>
              </a:extLst>
            </p:cNvPr>
            <p:cNvSpPr txBox="1"/>
            <p:nvPr/>
          </p:nvSpPr>
          <p:spPr>
            <a:xfrm>
              <a:off x="1071320" y="5440908"/>
              <a:ext cx="3415030" cy="305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Define responsable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Cuando Inicia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Cuando Finaliza</a:t>
              </a:r>
            </a:p>
          </p:txBody>
        </p:sp>
      </p:grpSp>
      <p:sp>
        <p:nvSpPr>
          <p:cNvPr id="21" name="Oval 15">
            <a:extLst>
              <a:ext uri="{FF2B5EF4-FFF2-40B4-BE49-F238E27FC236}">
                <a16:creationId xmlns:a16="http://schemas.microsoft.com/office/drawing/2014/main" id="{25460FBF-5A67-A986-C07B-88118FCD4932}"/>
              </a:ext>
            </a:extLst>
          </p:cNvPr>
          <p:cNvSpPr/>
          <p:nvPr/>
        </p:nvSpPr>
        <p:spPr>
          <a:xfrm>
            <a:off x="2404189" y="790288"/>
            <a:ext cx="274800" cy="2748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  <a:latin typeface="FontAwesome" pitchFamily="2" charset="0"/>
              </a:rPr>
              <a:t>5</a:t>
            </a:r>
          </a:p>
        </p:txBody>
      </p:sp>
      <p:grpSp>
        <p:nvGrpSpPr>
          <p:cNvPr id="22" name="Group 87">
            <a:extLst>
              <a:ext uri="{FF2B5EF4-FFF2-40B4-BE49-F238E27FC236}">
                <a16:creationId xmlns:a16="http://schemas.microsoft.com/office/drawing/2014/main" id="{40C2EEC9-C2A2-3FC4-1BA0-3F905DC1898E}"/>
              </a:ext>
            </a:extLst>
          </p:cNvPr>
          <p:cNvGrpSpPr/>
          <p:nvPr/>
        </p:nvGrpSpPr>
        <p:grpSpPr>
          <a:xfrm>
            <a:off x="1792124" y="1106710"/>
            <a:ext cx="2297275" cy="1821181"/>
            <a:chOff x="618721" y="5111713"/>
            <a:chExt cx="5541493" cy="1204485"/>
          </a:xfrm>
        </p:grpSpPr>
        <p:sp>
          <p:nvSpPr>
            <p:cNvPr id="23" name="TextBox 88">
              <a:extLst>
                <a:ext uri="{FF2B5EF4-FFF2-40B4-BE49-F238E27FC236}">
                  <a16:creationId xmlns:a16="http://schemas.microsoft.com/office/drawing/2014/main" id="{403FD507-2DFB-BA39-BD66-B60CB117DC97}"/>
                </a:ext>
              </a:extLst>
            </p:cNvPr>
            <p:cNvSpPr txBox="1"/>
            <p:nvPr/>
          </p:nvSpPr>
          <p:spPr>
            <a:xfrm>
              <a:off x="618721" y="5111713"/>
              <a:ext cx="3913944" cy="3358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RECEPCION</a:t>
              </a:r>
            </a:p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</a:t>
              </a:r>
            </a:p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ANALISIS /ELABORACION</a:t>
              </a:r>
            </a:p>
          </p:txBody>
        </p:sp>
        <p:sp>
          <p:nvSpPr>
            <p:cNvPr id="24" name="TextBox 89">
              <a:extLst>
                <a:ext uri="{FF2B5EF4-FFF2-40B4-BE49-F238E27FC236}">
                  <a16:creationId xmlns:a16="http://schemas.microsoft.com/office/drawing/2014/main" id="{8717C6F5-1976-64F4-7B3C-42C958A9E69B}"/>
                </a:ext>
              </a:extLst>
            </p:cNvPr>
            <p:cNvSpPr txBox="1"/>
            <p:nvPr/>
          </p:nvSpPr>
          <p:spPr>
            <a:xfrm>
              <a:off x="764968" y="5440908"/>
              <a:ext cx="5395246" cy="875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Recepción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Analiza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CREA CARPETAS para documentar la labor 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Elaboración del levantamiento del modelo en Revit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Se llena el FORMATO DE AREAS con las información de los m2 de contacto y se anexan sus respectivas imágenes 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Realizan la salida ENTREGANDO el formato de áreas y especificaciones técnicas</a:t>
              </a:r>
              <a:endParaRPr lang="es-CO" sz="8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5" name="Oval 15">
            <a:extLst>
              <a:ext uri="{FF2B5EF4-FFF2-40B4-BE49-F238E27FC236}">
                <a16:creationId xmlns:a16="http://schemas.microsoft.com/office/drawing/2014/main" id="{9C16CF65-7CBA-0511-17C2-0380FC10EC8C}"/>
              </a:ext>
            </a:extLst>
          </p:cNvPr>
          <p:cNvSpPr/>
          <p:nvPr/>
        </p:nvSpPr>
        <p:spPr>
          <a:xfrm>
            <a:off x="5121989" y="788110"/>
            <a:ext cx="274800" cy="2748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FontAwesome" pitchFamily="2" charset="0"/>
              </a:rPr>
              <a:t>6</a:t>
            </a:r>
          </a:p>
        </p:txBody>
      </p:sp>
      <p:grpSp>
        <p:nvGrpSpPr>
          <p:cNvPr id="26" name="Group 87">
            <a:extLst>
              <a:ext uri="{FF2B5EF4-FFF2-40B4-BE49-F238E27FC236}">
                <a16:creationId xmlns:a16="http://schemas.microsoft.com/office/drawing/2014/main" id="{6FEBF27A-BD61-0CF5-B844-A982CA801408}"/>
              </a:ext>
            </a:extLst>
          </p:cNvPr>
          <p:cNvGrpSpPr/>
          <p:nvPr/>
        </p:nvGrpSpPr>
        <p:grpSpPr>
          <a:xfrm>
            <a:off x="4468952" y="1104530"/>
            <a:ext cx="2236647" cy="1821182"/>
            <a:chOff x="519888" y="5111713"/>
            <a:chExt cx="5395246" cy="1204486"/>
          </a:xfrm>
        </p:grpSpPr>
        <p:sp>
          <p:nvSpPr>
            <p:cNvPr id="30" name="TextBox 88">
              <a:extLst>
                <a:ext uri="{FF2B5EF4-FFF2-40B4-BE49-F238E27FC236}">
                  <a16:creationId xmlns:a16="http://schemas.microsoft.com/office/drawing/2014/main" id="{6F1FCDE9-388D-5116-C86C-6341EEB355B3}"/>
                </a:ext>
              </a:extLst>
            </p:cNvPr>
            <p:cNvSpPr txBox="1"/>
            <p:nvPr/>
          </p:nvSpPr>
          <p:spPr>
            <a:xfrm>
              <a:off x="813991" y="5111713"/>
              <a:ext cx="3523401" cy="3358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RECEPCION</a:t>
              </a:r>
            </a:p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</a:t>
              </a:r>
            </a:p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ELABORACION DE COT</a:t>
              </a:r>
            </a:p>
          </p:txBody>
        </p:sp>
        <p:sp>
          <p:nvSpPr>
            <p:cNvPr id="32" name="TextBox 89">
              <a:extLst>
                <a:ext uri="{FF2B5EF4-FFF2-40B4-BE49-F238E27FC236}">
                  <a16:creationId xmlns:a16="http://schemas.microsoft.com/office/drawing/2014/main" id="{75C8387C-9002-84B4-C891-8663273414AB}"/>
                </a:ext>
              </a:extLst>
            </p:cNvPr>
            <p:cNvSpPr txBox="1"/>
            <p:nvPr/>
          </p:nvSpPr>
          <p:spPr>
            <a:xfrm>
              <a:off x="519888" y="5440908"/>
              <a:ext cx="5395246" cy="875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Recepción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Analiza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CREA CARPETA para documentar la labor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Guarda el Formato de áreas y Especificaciones técnicas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En la plantilla de Excel arma la cotización partiendo del Formato de áreas y especificaciones técnicas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Realiza la ENTREGA DE LA COTIZACION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VALIDA SALIDA</a:t>
              </a:r>
            </a:p>
          </p:txBody>
        </p:sp>
      </p:grp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885F51D9-09AC-E18F-06DF-D48F0F46FC6E}"/>
              </a:ext>
            </a:extLst>
          </p:cNvPr>
          <p:cNvSpPr/>
          <p:nvPr/>
        </p:nvSpPr>
        <p:spPr>
          <a:xfrm>
            <a:off x="1937090" y="2964613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FORMATO POR AREAS</a:t>
            </a:r>
          </a:p>
        </p:txBody>
      </p: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787C49BF-8E05-47D0-1B62-1A84E1C68F2B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4005060" y="3066896"/>
            <a:ext cx="632569" cy="0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615C4A27-4AB5-B88F-ADAD-A4D6D82D09DE}"/>
              </a:ext>
            </a:extLst>
          </p:cNvPr>
          <p:cNvGrpSpPr/>
          <p:nvPr/>
        </p:nvGrpSpPr>
        <p:grpSpPr>
          <a:xfrm>
            <a:off x="2603404" y="3688822"/>
            <a:ext cx="1142997" cy="1783866"/>
            <a:chOff x="3667462" y="797236"/>
            <a:chExt cx="466142" cy="1591578"/>
          </a:xfrm>
        </p:grpSpPr>
        <p:sp>
          <p:nvSpPr>
            <p:cNvPr id="139" name="Rectángulo: esquinas redondeadas 138">
              <a:extLst>
                <a:ext uri="{FF2B5EF4-FFF2-40B4-BE49-F238E27FC236}">
                  <a16:creationId xmlns:a16="http://schemas.microsoft.com/office/drawing/2014/main" id="{75C095F7-20B9-4C69-CBC4-4A1844F1FEAA}"/>
                </a:ext>
              </a:extLst>
            </p:cNvPr>
            <p:cNvSpPr/>
            <p:nvPr/>
          </p:nvSpPr>
          <p:spPr>
            <a:xfrm>
              <a:off x="3667462" y="797236"/>
              <a:ext cx="466142" cy="159157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0" name="Rectángulo: esquinas redondeadas 4">
              <a:extLst>
                <a:ext uri="{FF2B5EF4-FFF2-40B4-BE49-F238E27FC236}">
                  <a16:creationId xmlns:a16="http://schemas.microsoft.com/office/drawing/2014/main" id="{8B215463-FE5D-D0CC-823B-D5482DFF356A}"/>
                </a:ext>
              </a:extLst>
            </p:cNvPr>
            <p:cNvSpPr txBox="1"/>
            <p:nvPr/>
          </p:nvSpPr>
          <p:spPr>
            <a:xfrm>
              <a:off x="3694841" y="824615"/>
              <a:ext cx="359878" cy="8800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OPCIÓN 1</a:t>
              </a:r>
            </a:p>
          </p:txBody>
        </p:sp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5876A6C6-1BCE-3B24-D8EB-EFB9E1FC323F}"/>
              </a:ext>
            </a:extLst>
          </p:cNvPr>
          <p:cNvGrpSpPr/>
          <p:nvPr/>
        </p:nvGrpSpPr>
        <p:grpSpPr>
          <a:xfrm>
            <a:off x="4133676" y="3705974"/>
            <a:ext cx="1142997" cy="1783866"/>
            <a:chOff x="3667462" y="797236"/>
            <a:chExt cx="466142" cy="1591578"/>
          </a:xfrm>
        </p:grpSpPr>
        <p:sp>
          <p:nvSpPr>
            <p:cNvPr id="142" name="Rectángulo: esquinas redondeadas 141">
              <a:extLst>
                <a:ext uri="{FF2B5EF4-FFF2-40B4-BE49-F238E27FC236}">
                  <a16:creationId xmlns:a16="http://schemas.microsoft.com/office/drawing/2014/main" id="{DC28AB91-AF98-4704-177A-9B97238BFA98}"/>
                </a:ext>
              </a:extLst>
            </p:cNvPr>
            <p:cNvSpPr/>
            <p:nvPr/>
          </p:nvSpPr>
          <p:spPr>
            <a:xfrm>
              <a:off x="3667462" y="797236"/>
              <a:ext cx="466142" cy="159157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3" name="Rectángulo: esquinas redondeadas 4">
              <a:extLst>
                <a:ext uri="{FF2B5EF4-FFF2-40B4-BE49-F238E27FC236}">
                  <a16:creationId xmlns:a16="http://schemas.microsoft.com/office/drawing/2014/main" id="{A6186B9E-5EFD-7606-2B3D-EA81B112EDAA}"/>
                </a:ext>
              </a:extLst>
            </p:cNvPr>
            <p:cNvSpPr txBox="1"/>
            <p:nvPr/>
          </p:nvSpPr>
          <p:spPr>
            <a:xfrm>
              <a:off x="3694841" y="824615"/>
              <a:ext cx="359878" cy="8800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OPCIÓN 2</a:t>
              </a:r>
            </a:p>
          </p:txBody>
        </p:sp>
      </p:grpSp>
      <p:grpSp>
        <p:nvGrpSpPr>
          <p:cNvPr id="144" name="Grupo 143">
            <a:extLst>
              <a:ext uri="{FF2B5EF4-FFF2-40B4-BE49-F238E27FC236}">
                <a16:creationId xmlns:a16="http://schemas.microsoft.com/office/drawing/2014/main" id="{C6097600-2246-38B2-FFE4-B7F5A744AE64}"/>
              </a:ext>
            </a:extLst>
          </p:cNvPr>
          <p:cNvGrpSpPr/>
          <p:nvPr/>
        </p:nvGrpSpPr>
        <p:grpSpPr>
          <a:xfrm>
            <a:off x="5671614" y="3719509"/>
            <a:ext cx="1142997" cy="1783866"/>
            <a:chOff x="3667462" y="797236"/>
            <a:chExt cx="466142" cy="1591578"/>
          </a:xfrm>
        </p:grpSpPr>
        <p:sp>
          <p:nvSpPr>
            <p:cNvPr id="145" name="Rectángulo: esquinas redondeadas 144">
              <a:extLst>
                <a:ext uri="{FF2B5EF4-FFF2-40B4-BE49-F238E27FC236}">
                  <a16:creationId xmlns:a16="http://schemas.microsoft.com/office/drawing/2014/main" id="{DC936FFF-6EC2-CCD2-A876-A3528C3FF49B}"/>
                </a:ext>
              </a:extLst>
            </p:cNvPr>
            <p:cNvSpPr/>
            <p:nvPr/>
          </p:nvSpPr>
          <p:spPr>
            <a:xfrm>
              <a:off x="3667462" y="797236"/>
              <a:ext cx="466142" cy="159157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6" name="Rectángulo: esquinas redondeadas 4">
              <a:extLst>
                <a:ext uri="{FF2B5EF4-FFF2-40B4-BE49-F238E27FC236}">
                  <a16:creationId xmlns:a16="http://schemas.microsoft.com/office/drawing/2014/main" id="{917148C0-77F0-78AB-7508-5997272B0BAB}"/>
                </a:ext>
              </a:extLst>
            </p:cNvPr>
            <p:cNvSpPr txBox="1"/>
            <p:nvPr/>
          </p:nvSpPr>
          <p:spPr>
            <a:xfrm>
              <a:off x="3694841" y="824615"/>
              <a:ext cx="359878" cy="8800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OPCIÓN 3</a:t>
              </a:r>
            </a:p>
          </p:txBody>
        </p:sp>
      </p:grpSp>
      <p:grpSp>
        <p:nvGrpSpPr>
          <p:cNvPr id="147" name="Grupo 146">
            <a:extLst>
              <a:ext uri="{FF2B5EF4-FFF2-40B4-BE49-F238E27FC236}">
                <a16:creationId xmlns:a16="http://schemas.microsoft.com/office/drawing/2014/main" id="{A4D1A2FC-119F-4357-8E8C-64F8FC3D1137}"/>
              </a:ext>
            </a:extLst>
          </p:cNvPr>
          <p:cNvGrpSpPr/>
          <p:nvPr/>
        </p:nvGrpSpPr>
        <p:grpSpPr>
          <a:xfrm>
            <a:off x="7233714" y="3739622"/>
            <a:ext cx="1142997" cy="1783866"/>
            <a:chOff x="3667462" y="797236"/>
            <a:chExt cx="466142" cy="1591578"/>
          </a:xfrm>
        </p:grpSpPr>
        <p:sp>
          <p:nvSpPr>
            <p:cNvPr id="148" name="Rectángulo: esquinas redondeadas 147">
              <a:extLst>
                <a:ext uri="{FF2B5EF4-FFF2-40B4-BE49-F238E27FC236}">
                  <a16:creationId xmlns:a16="http://schemas.microsoft.com/office/drawing/2014/main" id="{E7CDDBFE-B820-9498-545D-1BBA830F375E}"/>
                </a:ext>
              </a:extLst>
            </p:cNvPr>
            <p:cNvSpPr/>
            <p:nvPr/>
          </p:nvSpPr>
          <p:spPr>
            <a:xfrm>
              <a:off x="3667462" y="797236"/>
              <a:ext cx="466142" cy="159157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9" name="Rectángulo: esquinas redondeadas 4">
              <a:extLst>
                <a:ext uri="{FF2B5EF4-FFF2-40B4-BE49-F238E27FC236}">
                  <a16:creationId xmlns:a16="http://schemas.microsoft.com/office/drawing/2014/main" id="{39467C47-9B37-0B16-F092-62E592A1E930}"/>
                </a:ext>
              </a:extLst>
            </p:cNvPr>
            <p:cNvSpPr txBox="1"/>
            <p:nvPr/>
          </p:nvSpPr>
          <p:spPr>
            <a:xfrm>
              <a:off x="3694841" y="824615"/>
              <a:ext cx="359878" cy="8800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OPCIÓN 4</a:t>
              </a:r>
            </a:p>
          </p:txBody>
        </p:sp>
      </p:grp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BBC1E812-B611-A515-D5A5-1F9991B4C077}"/>
              </a:ext>
            </a:extLst>
          </p:cNvPr>
          <p:cNvCxnSpPr>
            <a:cxnSpLocks/>
            <a:stCxn id="4" idx="2"/>
            <a:endCxn id="139" idx="0"/>
          </p:cNvCxnSpPr>
          <p:nvPr/>
        </p:nvCxnSpPr>
        <p:spPr>
          <a:xfrm flipH="1">
            <a:off x="3174903" y="3208080"/>
            <a:ext cx="2496711" cy="480742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6AC27B13-42DD-DB43-5F17-4810CFDE9EFA}"/>
              </a:ext>
            </a:extLst>
          </p:cNvPr>
          <p:cNvCxnSpPr>
            <a:cxnSpLocks/>
            <a:stCxn id="4" idx="2"/>
            <a:endCxn id="142" idx="0"/>
          </p:cNvCxnSpPr>
          <p:nvPr/>
        </p:nvCxnSpPr>
        <p:spPr>
          <a:xfrm flipH="1">
            <a:off x="4705175" y="3208080"/>
            <a:ext cx="966439" cy="497894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36D13C1B-9A7E-B744-9C5C-746CCEFCA152}"/>
              </a:ext>
            </a:extLst>
          </p:cNvPr>
          <p:cNvCxnSpPr>
            <a:cxnSpLocks/>
            <a:stCxn id="4" idx="2"/>
            <a:endCxn id="145" idx="0"/>
          </p:cNvCxnSpPr>
          <p:nvPr/>
        </p:nvCxnSpPr>
        <p:spPr>
          <a:xfrm>
            <a:off x="5671614" y="3208080"/>
            <a:ext cx="571499" cy="511429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de flecha 160">
            <a:extLst>
              <a:ext uri="{FF2B5EF4-FFF2-40B4-BE49-F238E27FC236}">
                <a16:creationId xmlns:a16="http://schemas.microsoft.com/office/drawing/2014/main" id="{CEE48090-43BC-1F67-800A-50113FCA64E7}"/>
              </a:ext>
            </a:extLst>
          </p:cNvPr>
          <p:cNvCxnSpPr>
            <a:cxnSpLocks/>
            <a:stCxn id="4" idx="2"/>
            <a:endCxn id="148" idx="0"/>
          </p:cNvCxnSpPr>
          <p:nvPr/>
        </p:nvCxnSpPr>
        <p:spPr>
          <a:xfrm>
            <a:off x="5671614" y="3208080"/>
            <a:ext cx="2133599" cy="531542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58AC8CD3-9E9A-4DD7-9D94-29B093DD5460}"/>
              </a:ext>
            </a:extLst>
          </p:cNvPr>
          <p:cNvSpPr/>
          <p:nvPr/>
        </p:nvSpPr>
        <p:spPr>
          <a:xfrm>
            <a:off x="8535214" y="4162769"/>
            <a:ext cx="2388093" cy="835972"/>
          </a:xfrm>
          <a:prstGeom prst="rightArrow">
            <a:avLst>
              <a:gd name="adj1" fmla="val 50000"/>
              <a:gd name="adj2" fmla="val 858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Pueden ser una o mas opciones</a:t>
            </a:r>
          </a:p>
        </p:txBody>
      </p:sp>
    </p:spTree>
    <p:extLst>
      <p:ext uri="{BB962C8B-B14F-4D97-AF65-F5344CB8AC3E}">
        <p14:creationId xmlns:p14="http://schemas.microsoft.com/office/powerpoint/2010/main" val="410633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AE4FB-1EEB-D068-BC8C-927A0647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AA87619-C9D1-EF69-75F9-929B61C2EDE0}"/>
              </a:ext>
            </a:extLst>
          </p:cNvPr>
          <p:cNvSpPr/>
          <p:nvPr/>
        </p:nvSpPr>
        <p:spPr>
          <a:xfrm>
            <a:off x="0" y="63304"/>
            <a:ext cx="8947052" cy="211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/>
              <a:t>FLUJO DE PROCESO DE LA INFORMACION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E6EF8A6-2706-9883-AE35-46A47626E887}"/>
              </a:ext>
            </a:extLst>
          </p:cNvPr>
          <p:cNvSpPr/>
          <p:nvPr/>
        </p:nvSpPr>
        <p:spPr>
          <a:xfrm>
            <a:off x="281529" y="2964613"/>
            <a:ext cx="2067970" cy="404202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ESTRUCTURA PARA CUALQUIER OPCION</a:t>
            </a:r>
          </a:p>
        </p:txBody>
      </p:sp>
      <p:sp>
        <p:nvSpPr>
          <p:cNvPr id="91" name="Flecha: a la derecha 90">
            <a:extLst>
              <a:ext uri="{FF2B5EF4-FFF2-40B4-BE49-F238E27FC236}">
                <a16:creationId xmlns:a16="http://schemas.microsoft.com/office/drawing/2014/main" id="{860246C4-D7FE-1FCF-0E2E-17F1FA8AF7E9}"/>
              </a:ext>
            </a:extLst>
          </p:cNvPr>
          <p:cNvSpPr/>
          <p:nvPr/>
        </p:nvSpPr>
        <p:spPr>
          <a:xfrm>
            <a:off x="165100" y="340375"/>
            <a:ext cx="2781299" cy="274801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00" dirty="0"/>
              <a:t>PROCESO COTIZACION</a:t>
            </a:r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87DF6D08-49E4-646A-3F33-9FA3D1CB8444}"/>
              </a:ext>
            </a:extLst>
          </p:cNvPr>
          <p:cNvCxnSpPr>
            <a:cxnSpLocks/>
          </p:cNvCxnSpPr>
          <p:nvPr/>
        </p:nvCxnSpPr>
        <p:spPr>
          <a:xfrm>
            <a:off x="291384" y="935182"/>
            <a:ext cx="9055816" cy="0"/>
          </a:xfrm>
          <a:prstGeom prst="line">
            <a:avLst/>
          </a:prstGeom>
          <a:ln w="19050">
            <a:headEnd type="oval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5">
            <a:extLst>
              <a:ext uri="{FF2B5EF4-FFF2-40B4-BE49-F238E27FC236}">
                <a16:creationId xmlns:a16="http://schemas.microsoft.com/office/drawing/2014/main" id="{87AAD890-F9AC-0346-4216-D4AB87AC1207}"/>
              </a:ext>
            </a:extLst>
          </p:cNvPr>
          <p:cNvSpPr/>
          <p:nvPr/>
        </p:nvSpPr>
        <p:spPr>
          <a:xfrm>
            <a:off x="867489" y="788110"/>
            <a:ext cx="274800" cy="2748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FontAwesome" pitchFamily="2" charset="0"/>
              </a:rPr>
              <a:t>6</a:t>
            </a:r>
          </a:p>
        </p:txBody>
      </p:sp>
      <p:grpSp>
        <p:nvGrpSpPr>
          <p:cNvPr id="26" name="Group 87">
            <a:extLst>
              <a:ext uri="{FF2B5EF4-FFF2-40B4-BE49-F238E27FC236}">
                <a16:creationId xmlns:a16="http://schemas.microsoft.com/office/drawing/2014/main" id="{A3290CED-CD00-CCF3-77B9-E2A96A2C184D}"/>
              </a:ext>
            </a:extLst>
          </p:cNvPr>
          <p:cNvGrpSpPr/>
          <p:nvPr/>
        </p:nvGrpSpPr>
        <p:grpSpPr>
          <a:xfrm>
            <a:off x="150952" y="1104530"/>
            <a:ext cx="2236647" cy="1821182"/>
            <a:chOff x="519888" y="5111713"/>
            <a:chExt cx="5395246" cy="1204486"/>
          </a:xfrm>
        </p:grpSpPr>
        <p:sp>
          <p:nvSpPr>
            <p:cNvPr id="30" name="TextBox 88">
              <a:extLst>
                <a:ext uri="{FF2B5EF4-FFF2-40B4-BE49-F238E27FC236}">
                  <a16:creationId xmlns:a16="http://schemas.microsoft.com/office/drawing/2014/main" id="{08EE9C1C-E73E-8D9E-3160-734A55D76D00}"/>
                </a:ext>
              </a:extLst>
            </p:cNvPr>
            <p:cNvSpPr txBox="1"/>
            <p:nvPr/>
          </p:nvSpPr>
          <p:spPr>
            <a:xfrm>
              <a:off x="813991" y="5111713"/>
              <a:ext cx="3523401" cy="3358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RECEPCION</a:t>
              </a:r>
            </a:p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</a:t>
              </a:r>
            </a:p>
            <a:p>
              <a:pPr algn="ctr"/>
              <a:r>
                <a:rPr lang="en-US" sz="900" b="1" dirty="0">
                  <a:solidFill>
                    <a:srgbClr val="2D3E5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ELABORACION DE COT</a:t>
              </a:r>
            </a:p>
          </p:txBody>
        </p:sp>
        <p:sp>
          <p:nvSpPr>
            <p:cNvPr id="32" name="TextBox 89">
              <a:extLst>
                <a:ext uri="{FF2B5EF4-FFF2-40B4-BE49-F238E27FC236}">
                  <a16:creationId xmlns:a16="http://schemas.microsoft.com/office/drawing/2014/main" id="{BA964631-1C2A-25AF-04B4-89A7766893F0}"/>
                </a:ext>
              </a:extLst>
            </p:cNvPr>
            <p:cNvSpPr txBox="1"/>
            <p:nvPr/>
          </p:nvSpPr>
          <p:spPr>
            <a:xfrm>
              <a:off x="519888" y="5440908"/>
              <a:ext cx="5395246" cy="875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Recepción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Analiza</a:t>
              </a:r>
            </a:p>
            <a:p>
              <a:pPr marL="228600" indent="-228600">
                <a:buAutoNum type="arabicPeriod"/>
              </a:pPr>
              <a:r>
                <a:rPr lang="es-CO" sz="800" b="1" dirty="0">
                  <a:solidFill>
                    <a:srgbClr val="002060"/>
                  </a:solidFill>
                </a:rPr>
                <a:t>CREA CARPETA para documentar la labor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Guarda el Formato de áreas y Especificaciones técnicas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En la plantilla de Excel arma la cotización partiendo del Formato de áreas y especificaciones técnicas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Realiza la ENTREGA DE LA COTIZACION</a:t>
              </a:r>
            </a:p>
            <a:p>
              <a:pPr marL="228600" indent="-228600">
                <a:buAutoNum type="arabicPeriod"/>
              </a:pPr>
              <a:r>
                <a:rPr lang="es-MX" sz="800" b="1" dirty="0">
                  <a:solidFill>
                    <a:srgbClr val="002060"/>
                  </a:solidFill>
                </a:rPr>
                <a:t>VALIDA SALIDA</a:t>
              </a:r>
            </a:p>
          </p:txBody>
        </p:sp>
      </p:grp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6E6DFFD5-446D-773A-BA6E-DE8A9411631A}"/>
              </a:ext>
            </a:extLst>
          </p:cNvPr>
          <p:cNvSpPr/>
          <p:nvPr/>
        </p:nvSpPr>
        <p:spPr>
          <a:xfrm>
            <a:off x="3994970" y="1542028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Tipo de negociación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5118FC17-D21B-EF17-D845-EE86E1594F0C}"/>
              </a:ext>
            </a:extLst>
          </p:cNvPr>
          <p:cNvSpPr/>
          <p:nvPr/>
        </p:nvSpPr>
        <p:spPr>
          <a:xfrm>
            <a:off x="3994968" y="1838673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Tipo de producto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4AFC3B0D-DB24-8A8B-C76A-82F659ED53AE}"/>
              </a:ext>
            </a:extLst>
          </p:cNvPr>
          <p:cNvSpPr/>
          <p:nvPr/>
        </p:nvSpPr>
        <p:spPr>
          <a:xfrm>
            <a:off x="3994968" y="1228070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Datos generales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797C63D-B181-34F3-1601-9BDC61838065}"/>
              </a:ext>
            </a:extLst>
          </p:cNvPr>
          <p:cNvSpPr/>
          <p:nvPr/>
        </p:nvSpPr>
        <p:spPr>
          <a:xfrm>
            <a:off x="3994967" y="2158955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Alcance de la cotización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A05C7B58-16F4-736A-1572-C47A2F5A9CF1}"/>
              </a:ext>
            </a:extLst>
          </p:cNvPr>
          <p:cNvSpPr/>
          <p:nvPr/>
        </p:nvSpPr>
        <p:spPr>
          <a:xfrm>
            <a:off x="3994967" y="2479237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TABLA DESCRIPCION Y VALORES</a:t>
            </a:r>
          </a:p>
        </p:txBody>
      </p: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71A152EC-99DA-E70F-0ACE-9C07DBA742BE}"/>
              </a:ext>
            </a:extLst>
          </p:cNvPr>
          <p:cNvCxnSpPr>
            <a:cxnSpLocks/>
            <a:stCxn id="4" idx="3"/>
            <a:endCxn id="124" idx="1"/>
          </p:cNvCxnSpPr>
          <p:nvPr/>
        </p:nvCxnSpPr>
        <p:spPr>
          <a:xfrm flipV="1">
            <a:off x="2349499" y="2771930"/>
            <a:ext cx="1553602" cy="394784"/>
          </a:xfrm>
          <a:prstGeom prst="bentConnector3">
            <a:avLst>
              <a:gd name="adj1" fmla="val 50000"/>
            </a:avLst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upo 98">
            <a:extLst>
              <a:ext uri="{FF2B5EF4-FFF2-40B4-BE49-F238E27FC236}">
                <a16:creationId xmlns:a16="http://schemas.microsoft.com/office/drawing/2014/main" id="{65271832-7BFD-F1DF-0900-BE87206CBD30}"/>
              </a:ext>
            </a:extLst>
          </p:cNvPr>
          <p:cNvGrpSpPr/>
          <p:nvPr/>
        </p:nvGrpSpPr>
        <p:grpSpPr>
          <a:xfrm>
            <a:off x="8326461" y="1037510"/>
            <a:ext cx="2067968" cy="684580"/>
            <a:chOff x="3667462" y="797237"/>
            <a:chExt cx="1039351" cy="907407"/>
          </a:xfrm>
        </p:grpSpPr>
        <p:sp>
          <p:nvSpPr>
            <p:cNvPr id="100" name="Rectángulo: esquinas redondeadas 99">
              <a:extLst>
                <a:ext uri="{FF2B5EF4-FFF2-40B4-BE49-F238E27FC236}">
                  <a16:creationId xmlns:a16="http://schemas.microsoft.com/office/drawing/2014/main" id="{11264F76-2357-FF0D-037D-F5C7564F6298}"/>
                </a:ext>
              </a:extLst>
            </p:cNvPr>
            <p:cNvSpPr/>
            <p:nvPr/>
          </p:nvSpPr>
          <p:spPr>
            <a:xfrm>
              <a:off x="3667462" y="797237"/>
              <a:ext cx="1039351" cy="90740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1" name="Rectángulo: esquinas redondeadas 4">
              <a:extLst>
                <a:ext uri="{FF2B5EF4-FFF2-40B4-BE49-F238E27FC236}">
                  <a16:creationId xmlns:a16="http://schemas.microsoft.com/office/drawing/2014/main" id="{D95761BD-5210-E0FC-E3EB-7250A845AEE4}"/>
                </a:ext>
              </a:extLst>
            </p:cNvPr>
            <p:cNvSpPr txBox="1"/>
            <p:nvPr/>
          </p:nvSpPr>
          <p:spPr>
            <a:xfrm>
              <a:off x="3694842" y="824615"/>
              <a:ext cx="860646" cy="8800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Fecha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dirty="0">
                  <a:solidFill>
                    <a:srgbClr val="FF0000"/>
                  </a:solidFill>
                </a:rPr>
                <a:t>Numero de cotización (#135)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kern="1200" noProof="0" dirty="0">
                  <a:solidFill>
                    <a:srgbClr val="FF0000"/>
                  </a:solidFill>
                </a:rPr>
                <a:t>Versión de cotización (5)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dirty="0">
                  <a:solidFill>
                    <a:srgbClr val="297FB8"/>
                  </a:solidFill>
                </a:rPr>
                <a:t>Datos del cliente y empresa</a:t>
              </a:r>
              <a:endParaRPr lang="es-CO" sz="1000" kern="1200" noProof="0" dirty="0">
                <a:solidFill>
                  <a:srgbClr val="297FB8"/>
                </a:solidFill>
              </a:endParaRPr>
            </a:p>
          </p:txBody>
        </p:sp>
      </p:grp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E75C10AE-575C-38D5-1CDB-2E4A62A37883}"/>
              </a:ext>
            </a:extLst>
          </p:cNvPr>
          <p:cNvCxnSpPr>
            <a:cxnSpLocks/>
            <a:stCxn id="53" idx="3"/>
            <a:endCxn id="100" idx="1"/>
          </p:cNvCxnSpPr>
          <p:nvPr/>
        </p:nvCxnSpPr>
        <p:spPr>
          <a:xfrm>
            <a:off x="6062937" y="1336769"/>
            <a:ext cx="2263524" cy="43031"/>
          </a:xfrm>
          <a:prstGeom prst="bentConnector3">
            <a:avLst>
              <a:gd name="adj1" fmla="val 50000"/>
            </a:avLst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ángulo: esquinas redondeadas 109">
            <a:extLst>
              <a:ext uri="{FF2B5EF4-FFF2-40B4-BE49-F238E27FC236}">
                <a16:creationId xmlns:a16="http://schemas.microsoft.com/office/drawing/2014/main" id="{529ED8B1-7745-989A-218A-8FE89EFAF834}"/>
              </a:ext>
            </a:extLst>
          </p:cNvPr>
          <p:cNvSpPr/>
          <p:nvPr/>
        </p:nvSpPr>
        <p:spPr>
          <a:xfrm>
            <a:off x="8326461" y="1781386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CTZ MOLDE COMPLETO</a:t>
            </a:r>
          </a:p>
        </p:txBody>
      </p:sp>
      <p:cxnSp>
        <p:nvCxnSpPr>
          <p:cNvPr id="111" name="Conector: angular 110">
            <a:extLst>
              <a:ext uri="{FF2B5EF4-FFF2-40B4-BE49-F238E27FC236}">
                <a16:creationId xmlns:a16="http://schemas.microsoft.com/office/drawing/2014/main" id="{DB19BF99-469D-9FF7-9FA9-DA2BB47BD4BC}"/>
              </a:ext>
            </a:extLst>
          </p:cNvPr>
          <p:cNvCxnSpPr>
            <a:cxnSpLocks/>
            <a:stCxn id="38" idx="3"/>
            <a:endCxn id="110" idx="1"/>
          </p:cNvCxnSpPr>
          <p:nvPr/>
        </p:nvCxnSpPr>
        <p:spPr>
          <a:xfrm>
            <a:off x="6062939" y="1650727"/>
            <a:ext cx="2263522" cy="232942"/>
          </a:xfrm>
          <a:prstGeom prst="bentConnector3">
            <a:avLst>
              <a:gd name="adj1" fmla="val 50000"/>
            </a:avLst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BB2A2DDD-DBAD-DECD-60BA-B9209E93FA65}"/>
              </a:ext>
            </a:extLst>
          </p:cNvPr>
          <p:cNvGrpSpPr/>
          <p:nvPr/>
        </p:nvGrpSpPr>
        <p:grpSpPr>
          <a:xfrm>
            <a:off x="8326462" y="2059446"/>
            <a:ext cx="2067968" cy="528490"/>
            <a:chOff x="3667462" y="797237"/>
            <a:chExt cx="888024" cy="354315"/>
          </a:xfrm>
        </p:grpSpPr>
        <p:sp>
          <p:nvSpPr>
            <p:cNvPr id="119" name="Rectángulo: esquinas redondeadas 118">
              <a:extLst>
                <a:ext uri="{FF2B5EF4-FFF2-40B4-BE49-F238E27FC236}">
                  <a16:creationId xmlns:a16="http://schemas.microsoft.com/office/drawing/2014/main" id="{B3B9ADC1-F7C1-FEB6-07CB-C7BC1BB4DC90}"/>
                </a:ext>
              </a:extLst>
            </p:cNvPr>
            <p:cNvSpPr/>
            <p:nvPr/>
          </p:nvSpPr>
          <p:spPr>
            <a:xfrm>
              <a:off x="3667462" y="797237"/>
              <a:ext cx="860645" cy="3543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0" name="Rectángulo: esquinas redondeadas 4">
              <a:extLst>
                <a:ext uri="{FF2B5EF4-FFF2-40B4-BE49-F238E27FC236}">
                  <a16:creationId xmlns:a16="http://schemas.microsoft.com/office/drawing/2014/main" id="{F0B33FA2-F270-0A31-93B0-B88E5FF8733B}"/>
                </a:ext>
              </a:extLst>
            </p:cNvPr>
            <p:cNvSpPr txBox="1"/>
            <p:nvPr/>
          </p:nvSpPr>
          <p:spPr>
            <a:xfrm>
              <a:off x="3694843" y="824615"/>
              <a:ext cx="860643" cy="2881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Platina 5.4cm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dirty="0">
                  <a:solidFill>
                    <a:srgbClr val="297FB8"/>
                  </a:solidFill>
                </a:rPr>
                <a:t>Platina </a:t>
              </a:r>
              <a:r>
                <a:rPr lang="es-CO" sz="1000" kern="1200" noProof="0" dirty="0">
                  <a:solidFill>
                    <a:srgbClr val="297FB8"/>
                  </a:solidFill>
                </a:rPr>
                <a:t>6.5cm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O" sz="1000" kern="1200" noProof="0" dirty="0">
                  <a:solidFill>
                    <a:srgbClr val="297FB8"/>
                  </a:solidFill>
                </a:rPr>
                <a:t>Platina 8cm</a:t>
              </a:r>
            </a:p>
          </p:txBody>
        </p:sp>
      </p:grpSp>
      <p:sp>
        <p:nvSpPr>
          <p:cNvPr id="124" name="Rectángulo: esquinas redondeadas 123">
            <a:extLst>
              <a:ext uri="{FF2B5EF4-FFF2-40B4-BE49-F238E27FC236}">
                <a16:creationId xmlns:a16="http://schemas.microsoft.com/office/drawing/2014/main" id="{7788FB90-A960-147C-77E5-4A8884C03279}"/>
              </a:ext>
            </a:extLst>
          </p:cNvPr>
          <p:cNvSpPr/>
          <p:nvPr/>
        </p:nvSpPr>
        <p:spPr>
          <a:xfrm>
            <a:off x="3903101" y="1113752"/>
            <a:ext cx="2980299" cy="3316355"/>
          </a:xfrm>
          <a:prstGeom prst="roundRect">
            <a:avLst>
              <a:gd name="adj" fmla="val 4715"/>
            </a:avLst>
          </a:prstGeom>
          <a:noFill/>
          <a:ln w="3175">
            <a:solidFill>
              <a:srgbClr val="FFC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D8D02B8-6F5D-007C-E0B3-E6CAFC2D8951}"/>
              </a:ext>
            </a:extLst>
          </p:cNvPr>
          <p:cNvGrpSpPr/>
          <p:nvPr/>
        </p:nvGrpSpPr>
        <p:grpSpPr>
          <a:xfrm>
            <a:off x="201315" y="3688822"/>
            <a:ext cx="3187701" cy="2332994"/>
            <a:chOff x="622299" y="4283706"/>
            <a:chExt cx="3187701" cy="2332994"/>
          </a:xfrm>
        </p:grpSpPr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D3614081-F9F8-84E4-FC29-4405E60F5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4339929"/>
              <a:ext cx="3040266" cy="2149683"/>
            </a:xfrm>
            <a:prstGeom prst="rect">
              <a:avLst/>
            </a:prstGeom>
          </p:spPr>
        </p:pic>
        <p:sp>
          <p:nvSpPr>
            <p:cNvPr id="131" name="Rectángulo: esquinas redondeadas 130">
              <a:extLst>
                <a:ext uri="{FF2B5EF4-FFF2-40B4-BE49-F238E27FC236}">
                  <a16:creationId xmlns:a16="http://schemas.microsoft.com/office/drawing/2014/main" id="{A09416DE-9469-683F-AAB6-65C18C3D0015}"/>
                </a:ext>
              </a:extLst>
            </p:cNvPr>
            <p:cNvSpPr/>
            <p:nvPr/>
          </p:nvSpPr>
          <p:spPr>
            <a:xfrm>
              <a:off x="622299" y="4283706"/>
              <a:ext cx="3187701" cy="2332994"/>
            </a:xfrm>
            <a:prstGeom prst="roundRect">
              <a:avLst>
                <a:gd name="adj" fmla="val 3968"/>
              </a:avLst>
            </a:prstGeom>
            <a:noFill/>
            <a:ln w="3175">
              <a:solidFill>
                <a:srgbClr val="00B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132" name="Conector: angular 131">
            <a:extLst>
              <a:ext uri="{FF2B5EF4-FFF2-40B4-BE49-F238E27FC236}">
                <a16:creationId xmlns:a16="http://schemas.microsoft.com/office/drawing/2014/main" id="{B01DCEE0-85A7-288C-39D3-540CF3D48B0C}"/>
              </a:ext>
            </a:extLst>
          </p:cNvPr>
          <p:cNvCxnSpPr>
            <a:cxnSpLocks/>
            <a:stCxn id="59" idx="1"/>
            <a:endCxn id="131" idx="3"/>
          </p:cNvCxnSpPr>
          <p:nvPr/>
        </p:nvCxnSpPr>
        <p:spPr>
          <a:xfrm rot="10800000" flipV="1">
            <a:off x="3389017" y="2587935"/>
            <a:ext cx="605951" cy="2267383"/>
          </a:xfrm>
          <a:prstGeom prst="bentConnector3">
            <a:avLst>
              <a:gd name="adj1" fmla="val 50000"/>
            </a:avLst>
          </a:prstGeom>
          <a:ln w="31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AD35296C-8074-49E8-4DEA-0DA229E1126A}"/>
              </a:ext>
            </a:extLst>
          </p:cNvPr>
          <p:cNvCxnSpPr>
            <a:cxnSpLocks/>
            <a:stCxn id="49" idx="3"/>
            <a:endCxn id="119" idx="1"/>
          </p:cNvCxnSpPr>
          <p:nvPr/>
        </p:nvCxnSpPr>
        <p:spPr>
          <a:xfrm>
            <a:off x="6062937" y="1947372"/>
            <a:ext cx="2263525" cy="376319"/>
          </a:xfrm>
          <a:prstGeom prst="bentConnector3">
            <a:avLst>
              <a:gd name="adj1" fmla="val 50000"/>
            </a:avLst>
          </a:prstGeom>
          <a:ln w="31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7C5DFB35-FE07-1A09-9C53-DCE5DC5673A0}"/>
              </a:ext>
            </a:extLst>
          </p:cNvPr>
          <p:cNvSpPr/>
          <p:nvPr/>
        </p:nvSpPr>
        <p:spPr>
          <a:xfrm>
            <a:off x="3994966" y="2781783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Memoria Grafica</a:t>
            </a:r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6246622F-DC43-BBB4-DE8F-C3246217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705" y="3166714"/>
            <a:ext cx="3356528" cy="3497399"/>
          </a:xfrm>
          <a:prstGeom prst="rect">
            <a:avLst/>
          </a:prstGeom>
        </p:spPr>
      </p:pic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AD3E62C6-7D09-23D9-51FA-4D923C98F88A}"/>
              </a:ext>
            </a:extLst>
          </p:cNvPr>
          <p:cNvSpPr/>
          <p:nvPr/>
        </p:nvSpPr>
        <p:spPr>
          <a:xfrm>
            <a:off x="3994966" y="3088574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Importe con letra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EEFFE92D-CE85-1317-FF17-2EA3CA5DC2CF}"/>
              </a:ext>
            </a:extLst>
          </p:cNvPr>
          <p:cNvSpPr/>
          <p:nvPr/>
        </p:nvSpPr>
        <p:spPr>
          <a:xfrm>
            <a:off x="3990716" y="3395365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Condiciones comerciales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5298B706-9B3A-A8C4-2E3C-26856B9EC979}"/>
              </a:ext>
            </a:extLst>
          </p:cNvPr>
          <p:cNvSpPr/>
          <p:nvPr/>
        </p:nvSpPr>
        <p:spPr>
          <a:xfrm>
            <a:off x="3990716" y="3702048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Condiciones Generales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AD80734D-7D0C-4DE9-353D-EC38E1C72B46}"/>
              </a:ext>
            </a:extLst>
          </p:cNvPr>
          <p:cNvSpPr/>
          <p:nvPr/>
        </p:nvSpPr>
        <p:spPr>
          <a:xfrm>
            <a:off x="3990716" y="4027267"/>
            <a:ext cx="2067969" cy="217398"/>
          </a:xfrm>
          <a:prstGeom prst="roundRect">
            <a:avLst/>
          </a:prstGeom>
          <a:noFill/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s-CO" sz="1000" dirty="0">
                <a:solidFill>
                  <a:schemeClr val="tx1"/>
                </a:solidFill>
              </a:rPr>
              <a:t>Firma comercial </a:t>
            </a:r>
          </a:p>
        </p:txBody>
      </p:sp>
      <p:sp>
        <p:nvSpPr>
          <p:cNvPr id="62" name="Cerrar llave 61">
            <a:extLst>
              <a:ext uri="{FF2B5EF4-FFF2-40B4-BE49-F238E27FC236}">
                <a16:creationId xmlns:a16="http://schemas.microsoft.com/office/drawing/2014/main" id="{A207A537-9964-2E7D-B4C9-29E4ACFB9EA1}"/>
              </a:ext>
            </a:extLst>
          </p:cNvPr>
          <p:cNvSpPr/>
          <p:nvPr/>
        </p:nvSpPr>
        <p:spPr>
          <a:xfrm>
            <a:off x="6164537" y="3088574"/>
            <a:ext cx="223564" cy="1156090"/>
          </a:xfrm>
          <a:prstGeom prst="rightBrace">
            <a:avLst>
              <a:gd name="adj1" fmla="val 62145"/>
              <a:gd name="adj2" fmla="val 50000"/>
            </a:avLst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54522BDF-1EE9-D3CC-1ED5-DD0B1BA7C0DB}"/>
              </a:ext>
            </a:extLst>
          </p:cNvPr>
          <p:cNvCxnSpPr>
            <a:cxnSpLocks/>
            <a:stCxn id="62" idx="1"/>
          </p:cNvCxnSpPr>
          <p:nvPr/>
        </p:nvCxnSpPr>
        <p:spPr>
          <a:xfrm>
            <a:off x="6388101" y="3666619"/>
            <a:ext cx="9556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878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547CA2FF965A4C80EB07F287D979E7" ma:contentTypeVersion="10" ma:contentTypeDescription="Crear nuevo documento." ma:contentTypeScope="" ma:versionID="3718dd2570825cf9a196332c15bc119e">
  <xsd:schema xmlns:xsd="http://www.w3.org/2001/XMLSchema" xmlns:xs="http://www.w3.org/2001/XMLSchema" xmlns:p="http://schemas.microsoft.com/office/2006/metadata/properties" xmlns:ns2="191f0433-4340-49e3-8edc-6d054b86f571" xmlns:ns3="2db42678-26b6-42c6-94f3-e76c9422a724" targetNamespace="http://schemas.microsoft.com/office/2006/metadata/properties" ma:root="true" ma:fieldsID="a52c3a219175fc9d9ee80eaaacecf805" ns2:_="" ns3:_="">
    <xsd:import namespace="191f0433-4340-49e3-8edc-6d054b86f571"/>
    <xsd:import namespace="2db42678-26b6-42c6-94f3-e76c9422a7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1f0433-4340-49e3-8edc-6d054b86f5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a3cc70b3-40e2-4473-832f-85343e566f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b42678-26b6-42c6-94f3-e76c9422a72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4c1447d-af60-4db2-ada3-dd38ef464ea1}" ma:internalName="TaxCatchAll" ma:showField="CatchAllData" ma:web="2db42678-26b6-42c6-94f3-e76c9422a7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91f0433-4340-49e3-8edc-6d054b86f571">
      <Terms xmlns="http://schemas.microsoft.com/office/infopath/2007/PartnerControls"/>
    </lcf76f155ced4ddcb4097134ff3c332f>
    <TaxCatchAll xmlns="2db42678-26b6-42c6-94f3-e76c9422a7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F9A9DF-2707-43EF-B444-EE325740CE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1f0433-4340-49e3-8edc-6d054b86f571"/>
    <ds:schemaRef ds:uri="2db42678-26b6-42c6-94f3-e76c9422a7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E42E30-1175-412E-9D21-E776874890EE}">
  <ds:schemaRefs>
    <ds:schemaRef ds:uri="http://schemas.microsoft.com/office/2006/metadata/properties"/>
    <ds:schemaRef ds:uri="http://schemas.microsoft.com/office/infopath/2007/PartnerControls"/>
    <ds:schemaRef ds:uri="191f0433-4340-49e3-8edc-6d054b86f571"/>
    <ds:schemaRef ds:uri="2db42678-26b6-42c6-94f3-e76c9422a724"/>
  </ds:schemaRefs>
</ds:datastoreItem>
</file>

<file path=customXml/itemProps3.xml><?xml version="1.0" encoding="utf-8"?>
<ds:datastoreItem xmlns:ds="http://schemas.openxmlformats.org/officeDocument/2006/customXml" ds:itemID="{9B2C749D-B661-418F-8A13-C314C083EB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4346</TotalTime>
  <Words>449</Words>
  <Application>Microsoft Office PowerPoint</Application>
  <PresentationFormat>Panorámica</PresentationFormat>
  <Paragraphs>122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FontAwesome</vt:lpstr>
      <vt:lpstr>Open Sans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Bernardo Pedroza</dc:creator>
  <cp:lastModifiedBy>Arlex Cardona</cp:lastModifiedBy>
  <cp:revision>8</cp:revision>
  <dcterms:created xsi:type="dcterms:W3CDTF">2026-10-25T17:10:21Z</dcterms:created>
  <dcterms:modified xsi:type="dcterms:W3CDTF">2026-10-26T21:39:15Z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0x010100D5547CA2FF965A4C80EB07F287D979E7</vt:lpwstr>
  </property>
</Properties>
</file>